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EF82"/>
    <a:srgbClr val="21FFC8"/>
    <a:srgbClr val="21FF8F"/>
    <a:srgbClr val="4BFF21"/>
    <a:srgbClr val="A6F12F"/>
    <a:srgbClr val="ABC55B"/>
    <a:srgbClr val="B490B6"/>
    <a:srgbClr val="CC73D4"/>
    <a:srgbClr val="A4C555"/>
    <a:srgbClr val="59C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12"/>
        <p:guide pos="291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圆角矩形 11"/>
          <p:cNvSpPr/>
          <p:nvPr/>
        </p:nvSpPr>
        <p:spPr>
          <a:xfrm>
            <a:off x="167640" y="2193290"/>
            <a:ext cx="1252220" cy="38036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3397885" y="3014345"/>
            <a:ext cx="1299210" cy="3079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90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3397885" y="3568065"/>
            <a:ext cx="1299210" cy="4984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90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21285" y="1344930"/>
            <a:ext cx="1368425" cy="2304415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640" y="138874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VQA DATA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7924"/>
          <a:stretch>
            <a:fillRect/>
          </a:stretch>
        </p:blipFill>
        <p:spPr>
          <a:xfrm>
            <a:off x="167640" y="2640965"/>
            <a:ext cx="1250315" cy="8337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3040" y="2198370"/>
            <a:ext cx="1193165" cy="38163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 rtlCol="0" anchor="t">
            <a:noAutofit/>
          </a:bodyPr>
          <a:p>
            <a:r>
              <a:rPr lang="en-US" altLang="zh-CN" sz="1000">
                <a:sym typeface="+mn-ea"/>
              </a:rPr>
              <a:t>Anwser:demodex folliculorum</a:t>
            </a:r>
            <a:endParaRPr lang="en-US" altLang="zh-CN" sz="1000"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12420" y="3764915"/>
            <a:ext cx="902970" cy="733425"/>
          </a:xfrm>
          <a:prstGeom prst="round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6550" y="3844925"/>
            <a:ext cx="988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Prompt Control</a:t>
            </a:r>
            <a:endParaRPr lang="en-US" altLang="zh-CN" sz="1600"/>
          </a:p>
        </p:txBody>
      </p:sp>
      <p:sp>
        <p:nvSpPr>
          <p:cNvPr id="11" name="圆角矩形 10"/>
          <p:cNvSpPr/>
          <p:nvPr/>
        </p:nvSpPr>
        <p:spPr>
          <a:xfrm>
            <a:off x="168275" y="1745615"/>
            <a:ext cx="1252220" cy="380365"/>
          </a:xfrm>
          <a:prstGeom prst="roundRect">
            <a:avLst/>
          </a:prstGeom>
          <a:solidFill>
            <a:schemeClr val="accent5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752600" y="2125980"/>
            <a:ext cx="1242695" cy="2304415"/>
          </a:xfrm>
          <a:prstGeom prst="round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24025" y="2241550"/>
            <a:ext cx="1395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Multimodal LLMs</a:t>
            </a:r>
            <a:endParaRPr lang="en-US" altLang="zh-CN" sz="1200"/>
          </a:p>
        </p:txBody>
      </p:sp>
      <p:sp>
        <p:nvSpPr>
          <p:cNvPr id="16" name="圆角矩形 15"/>
          <p:cNvSpPr/>
          <p:nvPr/>
        </p:nvSpPr>
        <p:spPr>
          <a:xfrm>
            <a:off x="1795780" y="2538095"/>
            <a:ext cx="1092200" cy="403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849755" y="2573655"/>
            <a:ext cx="101028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Qwen-2.5 </a:t>
            </a:r>
            <a:endParaRPr lang="en-US" altLang="zh-CN" sz="1400"/>
          </a:p>
        </p:txBody>
      </p:sp>
      <p:sp>
        <p:nvSpPr>
          <p:cNvPr id="18" name="圆角矩形 17"/>
          <p:cNvSpPr/>
          <p:nvPr/>
        </p:nvSpPr>
        <p:spPr>
          <a:xfrm>
            <a:off x="1802130" y="3068955"/>
            <a:ext cx="1092200" cy="403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9755" y="3117215"/>
            <a:ext cx="101028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LLaVa </a:t>
            </a:r>
            <a:endParaRPr lang="en-US" altLang="zh-CN" sz="1400"/>
          </a:p>
        </p:txBody>
      </p:sp>
      <p:sp>
        <p:nvSpPr>
          <p:cNvPr id="20" name="圆角矩形 19"/>
          <p:cNvSpPr/>
          <p:nvPr/>
        </p:nvSpPr>
        <p:spPr>
          <a:xfrm>
            <a:off x="1802130" y="3718560"/>
            <a:ext cx="1092200" cy="403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759585" y="3754120"/>
            <a:ext cx="1235710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MedGemma </a:t>
            </a:r>
            <a:endParaRPr lang="en-US" altLang="zh-CN" sz="1400"/>
          </a:p>
        </p:txBody>
      </p:sp>
      <p:sp>
        <p:nvSpPr>
          <p:cNvPr id="23" name="圆角矩形 22"/>
          <p:cNvSpPr/>
          <p:nvPr/>
        </p:nvSpPr>
        <p:spPr>
          <a:xfrm>
            <a:off x="3353435" y="2397125"/>
            <a:ext cx="1412875" cy="1859280"/>
          </a:xfrm>
          <a:prstGeom prst="round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337560" y="2553970"/>
            <a:ext cx="18224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Answer Generation</a:t>
            </a:r>
            <a:endParaRPr lang="en-US" altLang="zh-CN" sz="1200"/>
          </a:p>
        </p:txBody>
      </p:sp>
      <p:sp>
        <p:nvSpPr>
          <p:cNvPr id="27" name="文本框 26"/>
          <p:cNvSpPr txBox="1"/>
          <p:nvPr/>
        </p:nvSpPr>
        <p:spPr>
          <a:xfrm>
            <a:off x="3354070" y="2998470"/>
            <a:ext cx="141224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Greedy Answer</a:t>
            </a:r>
            <a:endParaRPr lang="en-US" altLang="zh-CN" sz="1400"/>
          </a:p>
        </p:txBody>
      </p:sp>
      <p:sp>
        <p:nvSpPr>
          <p:cNvPr id="28" name="文本框 27"/>
          <p:cNvSpPr txBox="1"/>
          <p:nvPr/>
        </p:nvSpPr>
        <p:spPr>
          <a:xfrm>
            <a:off x="3337560" y="3562350"/>
            <a:ext cx="1428115" cy="44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K Sampled Answer</a:t>
            </a:r>
            <a:endParaRPr lang="en-US" altLang="zh-CN" sz="1400"/>
          </a:p>
        </p:txBody>
      </p:sp>
      <p:sp>
        <p:nvSpPr>
          <p:cNvPr id="6" name="文本框 5"/>
          <p:cNvSpPr txBox="1"/>
          <p:nvPr/>
        </p:nvSpPr>
        <p:spPr>
          <a:xfrm>
            <a:off x="213360" y="1757045"/>
            <a:ext cx="127381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Question: What is present</a:t>
            </a:r>
            <a:endParaRPr lang="en-US" altLang="zh-CN" sz="1000"/>
          </a:p>
        </p:txBody>
      </p:sp>
      <p:sp>
        <p:nvSpPr>
          <p:cNvPr id="34" name="圆角矩形 33"/>
          <p:cNvSpPr/>
          <p:nvPr/>
        </p:nvSpPr>
        <p:spPr>
          <a:xfrm>
            <a:off x="4981575" y="1821180"/>
            <a:ext cx="2748280" cy="960120"/>
          </a:xfrm>
          <a:prstGeom prst="round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5757545" y="1897380"/>
            <a:ext cx="1235075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Answer Quality</a:t>
            </a:r>
            <a:endParaRPr lang="en-US" altLang="zh-CN" sz="1200"/>
          </a:p>
        </p:txBody>
      </p:sp>
      <p:sp>
        <p:nvSpPr>
          <p:cNvPr id="36" name="圆角矩形 35"/>
          <p:cNvSpPr/>
          <p:nvPr/>
        </p:nvSpPr>
        <p:spPr>
          <a:xfrm>
            <a:off x="5064760" y="2216150"/>
            <a:ext cx="749300" cy="293370"/>
          </a:xfrm>
          <a:prstGeom prst="roundRect">
            <a:avLst/>
          </a:prstGeom>
          <a:solidFill>
            <a:srgbClr val="ABC55B"/>
          </a:solidFill>
          <a:ln>
            <a:solidFill>
              <a:srgbClr val="A4C55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053965" y="2205355"/>
            <a:ext cx="759460" cy="30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/>
              <a:t>BLEU-1</a:t>
            </a:r>
            <a:endParaRPr lang="en-US" altLang="zh-CN" sz="1200"/>
          </a:p>
        </p:txBody>
      </p:sp>
      <p:sp>
        <p:nvSpPr>
          <p:cNvPr id="38" name="圆角矩形 37"/>
          <p:cNvSpPr/>
          <p:nvPr/>
        </p:nvSpPr>
        <p:spPr>
          <a:xfrm>
            <a:off x="6000750" y="2216150"/>
            <a:ext cx="749300" cy="293370"/>
          </a:xfrm>
          <a:prstGeom prst="roundRect">
            <a:avLst/>
          </a:prstGeom>
          <a:solidFill>
            <a:srgbClr val="ABC55B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910580" y="2218055"/>
            <a:ext cx="930275" cy="30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/>
              <a:t>ROUGE-L</a:t>
            </a:r>
            <a:endParaRPr lang="en-US" altLang="zh-CN" sz="1200"/>
          </a:p>
        </p:txBody>
      </p:sp>
      <p:sp>
        <p:nvSpPr>
          <p:cNvPr id="40" name="圆角矩形 39"/>
          <p:cNvSpPr/>
          <p:nvPr/>
        </p:nvSpPr>
        <p:spPr>
          <a:xfrm>
            <a:off x="6937375" y="2216150"/>
            <a:ext cx="749300" cy="293370"/>
          </a:xfrm>
          <a:prstGeom prst="roundRect">
            <a:avLst/>
          </a:prstGeom>
          <a:solidFill>
            <a:srgbClr val="ABC55B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864985" y="2203450"/>
            <a:ext cx="897890" cy="30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/>
              <a:t>METEOR</a:t>
            </a:r>
            <a:endParaRPr lang="en-US" altLang="zh-CN" sz="1200"/>
          </a:p>
        </p:txBody>
      </p:sp>
      <p:sp>
        <p:nvSpPr>
          <p:cNvPr id="42" name="圆角矩形 41"/>
          <p:cNvSpPr/>
          <p:nvPr/>
        </p:nvSpPr>
        <p:spPr>
          <a:xfrm>
            <a:off x="5000625" y="2907030"/>
            <a:ext cx="2765425" cy="2180590"/>
          </a:xfrm>
          <a:prstGeom prst="round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424805" y="3069590"/>
            <a:ext cx="182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Reliability Analysis</a:t>
            </a:r>
            <a:endParaRPr lang="en-US" altLang="zh-CN" sz="1400"/>
          </a:p>
        </p:txBody>
      </p:sp>
      <p:sp>
        <p:nvSpPr>
          <p:cNvPr id="45" name="圆角矩形 44"/>
          <p:cNvSpPr/>
          <p:nvPr/>
        </p:nvSpPr>
        <p:spPr>
          <a:xfrm>
            <a:off x="5200650" y="3549015"/>
            <a:ext cx="1178560" cy="32893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148580" y="3564890"/>
            <a:ext cx="1280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ADF Frequency</a:t>
            </a:r>
            <a:endParaRPr lang="en-US" altLang="zh-CN" sz="1200"/>
          </a:p>
        </p:txBody>
      </p:sp>
      <p:sp>
        <p:nvSpPr>
          <p:cNvPr id="48" name="圆角矩形 47"/>
          <p:cNvSpPr/>
          <p:nvPr/>
        </p:nvSpPr>
        <p:spPr>
          <a:xfrm>
            <a:off x="5200650" y="3952240"/>
            <a:ext cx="1178560" cy="32893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200650" y="3976370"/>
            <a:ext cx="1280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Semantic AFD</a:t>
            </a:r>
            <a:endParaRPr lang="en-US" altLang="zh-CN" sz="1200"/>
          </a:p>
        </p:txBody>
      </p:sp>
      <p:sp>
        <p:nvSpPr>
          <p:cNvPr id="50" name="圆角矩形 49"/>
          <p:cNvSpPr/>
          <p:nvPr/>
        </p:nvSpPr>
        <p:spPr>
          <a:xfrm>
            <a:off x="5137150" y="4424045"/>
            <a:ext cx="1349375" cy="32893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085080" y="4424045"/>
            <a:ext cx="1472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Q-Aligned Entropy</a:t>
            </a:r>
            <a:endParaRPr lang="en-US" altLang="zh-CN" sz="1200"/>
          </a:p>
        </p:txBody>
      </p:sp>
      <p:sp>
        <p:nvSpPr>
          <p:cNvPr id="53" name="圆角矩形 52"/>
          <p:cNvSpPr/>
          <p:nvPr/>
        </p:nvSpPr>
        <p:spPr>
          <a:xfrm>
            <a:off x="6750685" y="3621405"/>
            <a:ext cx="903605" cy="1061085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557645" y="3621405"/>
            <a:ext cx="1280795" cy="10217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500"/>
              <a:t>AUROC</a:t>
            </a:r>
            <a:endParaRPr lang="en-US" altLang="zh-CN" sz="1500"/>
          </a:p>
          <a:p>
            <a:pPr algn="ctr"/>
            <a:r>
              <a:rPr lang="en-US" altLang="zh-CN" sz="1500"/>
              <a:t>AUPRC</a:t>
            </a:r>
            <a:endParaRPr lang="en-US" altLang="zh-CN" sz="1500"/>
          </a:p>
          <a:p>
            <a:pPr algn="ctr"/>
            <a:r>
              <a:rPr lang="en-US" altLang="zh-CN" sz="1500"/>
              <a:t>Risk-Coverage</a:t>
            </a:r>
            <a:endParaRPr lang="en-US" altLang="zh-CN" sz="1500"/>
          </a:p>
        </p:txBody>
      </p:sp>
      <p:sp>
        <p:nvSpPr>
          <p:cNvPr id="55" name="菱形 54"/>
          <p:cNvSpPr/>
          <p:nvPr/>
        </p:nvSpPr>
        <p:spPr>
          <a:xfrm>
            <a:off x="8065770" y="2409825"/>
            <a:ext cx="647700" cy="1007745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7933055" y="1874520"/>
            <a:ext cx="899795" cy="32893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7729855" y="1844675"/>
            <a:ext cx="128079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/>
              <a:t>Accept</a:t>
            </a:r>
            <a:endParaRPr lang="en-US" altLang="zh-CN" sz="2000"/>
          </a:p>
        </p:txBody>
      </p:sp>
      <p:sp>
        <p:nvSpPr>
          <p:cNvPr id="58" name="圆角矩形 57"/>
          <p:cNvSpPr/>
          <p:nvPr/>
        </p:nvSpPr>
        <p:spPr>
          <a:xfrm>
            <a:off x="7994015" y="3691255"/>
            <a:ext cx="854710" cy="10077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BC55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569325" y="57810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901940" y="3637915"/>
            <a:ext cx="104584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/>
              <a:t>Reject</a:t>
            </a:r>
            <a:endParaRPr lang="en-US" altLang="zh-CN" sz="2000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994150"/>
            <a:ext cx="575945" cy="660400"/>
          </a:xfrm>
          <a:prstGeom prst="rect">
            <a:avLst/>
          </a:prstGeom>
        </p:spPr>
      </p:pic>
      <p:cxnSp>
        <p:nvCxnSpPr>
          <p:cNvPr id="63" name="直接箭头连接符 62"/>
          <p:cNvCxnSpPr/>
          <p:nvPr/>
        </p:nvCxnSpPr>
        <p:spPr>
          <a:xfrm>
            <a:off x="1508125" y="2517140"/>
            <a:ext cx="2159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240155" y="4156710"/>
            <a:ext cx="48387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4765675" y="3877945"/>
            <a:ext cx="2159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4765675" y="2580005"/>
            <a:ext cx="2159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2995295" y="3376295"/>
            <a:ext cx="34988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8389620" y="3452495"/>
            <a:ext cx="0" cy="2165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8389620" y="2239010"/>
            <a:ext cx="0" cy="1441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6440805" y="4066540"/>
            <a:ext cx="2159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8065770" y="2724150"/>
            <a:ext cx="678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/>
              <a:t>Rejection</a:t>
            </a:r>
            <a:br>
              <a:rPr lang="en-US" altLang="zh-CN" sz="800"/>
            </a:br>
            <a:r>
              <a:rPr lang="en-US" altLang="zh-CN" sz="800"/>
              <a:t>threshold</a:t>
            </a:r>
            <a:endParaRPr lang="en-US" altLang="zh-CN" sz="800"/>
          </a:p>
        </p:txBody>
      </p:sp>
      <p:cxnSp>
        <p:nvCxnSpPr>
          <p:cNvPr id="82" name="肘形连接符 81"/>
          <p:cNvCxnSpPr/>
          <p:nvPr/>
        </p:nvCxnSpPr>
        <p:spPr>
          <a:xfrm flipV="1">
            <a:off x="7812405" y="2893060"/>
            <a:ext cx="227330" cy="12395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WPS 演示</Application>
  <PresentationFormat/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13324511209</cp:lastModifiedBy>
  <cp:revision>3</cp:revision>
  <dcterms:created xsi:type="dcterms:W3CDTF">2026-08-25T06:11:55Z</dcterms:created>
  <dcterms:modified xsi:type="dcterms:W3CDTF">2026-08-25T13:42:22Z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292198EAC6CF47039E8BF3102C801125_13</vt:lpwstr>
  </property>
</Properties>
</file>